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7" r:id="rId5"/>
    <p:sldId id="261" r:id="rId6"/>
    <p:sldId id="262" r:id="rId7"/>
    <p:sldId id="260" r:id="rId8"/>
    <p:sldId id="259" r:id="rId9"/>
    <p:sldId id="265" r:id="rId10"/>
    <p:sldId id="269" r:id="rId11"/>
    <p:sldId id="274" r:id="rId12"/>
    <p:sldId id="266" r:id="rId13"/>
    <p:sldId id="270" r:id="rId14"/>
    <p:sldId id="275" r:id="rId15"/>
    <p:sldId id="267" r:id="rId16"/>
    <p:sldId id="271" r:id="rId17"/>
    <p:sldId id="268" r:id="rId18"/>
    <p:sldId id="272" r:id="rId19"/>
    <p:sldId id="276" r:id="rId20"/>
    <p:sldId id="264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111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A2E69-1FF3-6149-E78E-0815343BB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3B4FA-E22E-75BB-71A2-9DB57DE523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42C05-C6B2-83EC-EF98-29C7AAADC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5AF0C-1281-4828-B3AF-A42C89400C2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38D5A-851E-A1B9-A0F2-E28E8C33B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70FD4-1BDC-0EE2-D2BB-D5E8F786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C5F6-D11E-4F89-87F4-1E7D41A0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62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9CE3-5515-5CD3-0281-8D0903B8A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51363-3F28-6BA4-E3AF-45C0A0E44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D0A6A-AD51-78B8-82FC-CA3C84AD2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5AF0C-1281-4828-B3AF-A42C89400C2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2D11B-7C87-748C-B20D-18BE189F1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385F0-A830-275C-EA9E-258FCDD7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C5F6-D11E-4F89-87F4-1E7D41A0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119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8451-BEEC-6556-D59D-9FDD946DC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4D7B5-E508-38A9-D082-F112C1234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5810D-FF72-2E7F-A236-D1210C627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5AF0C-1281-4828-B3AF-A42C89400C2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EA21E-8788-DEE0-7824-DCB682FE5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8C5C4-3EED-D91D-9E85-C9648731B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C5F6-D11E-4F89-87F4-1E7D41A0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554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C8B95-68DC-C41A-27A1-F9914CC4F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B3781-DD1E-0495-D03D-7169E86C5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DAEB9-C4BA-4A74-28F3-40F5F8B76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444BB-CFEF-BE8A-EC71-32FA94112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5AF0C-1281-4828-B3AF-A42C89400C2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E8494-069A-E8B3-45B4-35AB1B545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FA0F3-81CF-BC99-80D4-43208633E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C5F6-D11E-4F89-87F4-1E7D41A0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101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1ED26-F958-AE18-4C28-0B080EB31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5EF18-FA75-D317-86F8-62A147B8D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52787D-5500-048D-2105-E1F0F2346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F40DFA-B9CD-6732-47F7-09294E2472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E669D3-D39C-B49F-1311-B8BB35DA9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074C39-0A2C-57BC-7A56-6EA86B204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5AF0C-1281-4828-B3AF-A42C89400C2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B3D1A2-D3BD-F355-8024-82EC39D62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BF79F7-3728-E8A2-B708-5399E35F6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C5F6-D11E-4F89-87F4-1E7D41A0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11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9E209-D5D9-8576-6041-67B991BF4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788C0-FB3C-086C-3AA7-1A26024B3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5AF0C-1281-4828-B3AF-A42C89400C2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D0483-4D76-9E35-F7B4-D99C66D02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A18572-E250-244B-EFC6-C09731AC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C5F6-D11E-4F89-87F4-1E7D41A0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46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892781-515A-0764-25DC-0E5AE62EF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5AF0C-1281-4828-B3AF-A42C89400C2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615F89-85D2-34F3-AF21-AD7705147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27BDA-8492-B2F5-95EA-DC726D430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C5F6-D11E-4F89-87F4-1E7D41A0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135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49BF8-9BC4-D617-01C5-E76D8416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3127D-C59D-6A7A-F2F0-4D69B78A1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05D4A-7CCF-C72D-53AE-C9ADE46E8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42A1B-3032-9EBD-CBAE-297785A5D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5AF0C-1281-4828-B3AF-A42C89400C2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52E55-B21E-4D46-4E86-6AB9887E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9E918-BB47-85F3-2829-D84CB4C8E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C5F6-D11E-4F89-87F4-1E7D41A0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91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C0F52-4EFC-F463-9A5E-042057DAA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567128-FAF8-553E-3F5B-928F4DEB5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D62C6-DA7B-EB5D-99EE-36CE33B95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2176B-E46E-B90D-79DA-AF0A957C5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5AF0C-1281-4828-B3AF-A42C89400C2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E599B-12A8-E66F-C126-95C3A059B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C7799-2839-F40A-9CB8-E71E563C5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C5F6-D11E-4F89-87F4-1E7D41A0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29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06965-919B-C59D-7924-042614BF2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10F60-6715-7F99-3630-3DA54E8B2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5DF1D-737D-7D4C-8ECA-349513F5C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5AF0C-1281-4828-B3AF-A42C89400C2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10D08-EF20-0928-E0F3-CC23ACFCD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212DD-0027-76CD-892F-A652C92C8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C5F6-D11E-4F89-87F4-1E7D41A0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771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2DDC0B-A755-BB75-339D-3BA962551A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3194C6-315E-3FB8-98F0-078906C8E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FB8B7-8E28-C61E-0910-B2BA4F08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5AF0C-1281-4828-B3AF-A42C89400C2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C3825-378B-2088-5923-E83C6351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3447D-CB3D-C5CF-42A5-28A657F87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C5F6-D11E-4F89-87F4-1E7D41A0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4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745C75-100E-1681-872F-787FD9C86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1C01D-3FB7-DB52-DE7F-3812F5DD3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42F21-5825-0C5F-4571-D0A5DC776E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85AF0C-1281-4828-B3AF-A42C89400C2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B3EC2-BDDD-2B2D-C7CF-9E45F2CA1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05016-3C8E-0890-8627-AABA863D5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E9C5F6-D11E-4F89-87F4-1E7D41A0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118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98450-D971-6383-68B8-216AFC7B23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CPU Scheduling Algorithm Simulator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185710-2FA0-782B-1170-B67CDF5E43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Ethan Farkos</a:t>
            </a:r>
          </a:p>
        </p:txBody>
      </p:sp>
    </p:spTree>
    <p:extLst>
      <p:ext uri="{BB962C8B-B14F-4D97-AF65-F5344CB8AC3E}">
        <p14:creationId xmlns:p14="http://schemas.microsoft.com/office/powerpoint/2010/main" val="1643628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E9AC3-6FCD-D5BF-E77F-240A66039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6A8F5-B73C-B2A9-00CB-31147888D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 a simulator to implement five different scheduling algorithms</a:t>
            </a:r>
          </a:p>
          <a:p>
            <a:r>
              <a:rPr lang="en-US" dirty="0"/>
              <a:t>Allow for user input of process details, including arrival time, CPU burst, and process priority</a:t>
            </a:r>
          </a:p>
          <a:p>
            <a:r>
              <a:rPr lang="en-US" dirty="0"/>
              <a:t>Visualize the scheduling process using a Gantt chart</a:t>
            </a:r>
          </a:p>
          <a:p>
            <a:r>
              <a:rPr lang="en-US" dirty="0"/>
              <a:t>Simulator calculates performance metrics, including average waiting time, average turnaround time, and average response time for comparison </a:t>
            </a:r>
          </a:p>
        </p:txBody>
      </p:sp>
    </p:spTree>
    <p:extLst>
      <p:ext uri="{BB962C8B-B14F-4D97-AF65-F5344CB8AC3E}">
        <p14:creationId xmlns:p14="http://schemas.microsoft.com/office/powerpoint/2010/main" val="2617592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AFFE4-6B10-1448-2A19-8361E2BED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82F1E-CA3D-4BBE-4D5B-7B6BCC04D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information can be inputted from a text file following a specific format</a:t>
            </a:r>
          </a:p>
          <a:p>
            <a:r>
              <a:rPr lang="en-US" dirty="0"/>
              <a:t>Can run one or more simulations on a single set of processes</a:t>
            </a:r>
          </a:p>
          <a:p>
            <a:r>
              <a:rPr lang="en-US" dirty="0"/>
              <a:t>Can input a new set of processes to run a simulation on</a:t>
            </a:r>
          </a:p>
          <a:p>
            <a:r>
              <a:rPr lang="en-US" dirty="0"/>
              <a:t>Simulator calculates average normalized turnaround time</a:t>
            </a:r>
          </a:p>
          <a:p>
            <a:r>
              <a:rPr lang="en-US" dirty="0"/>
              <a:t>Can write a user-inputted process sets to a text file</a:t>
            </a:r>
          </a:p>
          <a:p>
            <a:r>
              <a:rPr lang="en-US" dirty="0"/>
              <a:t>Can write output to a text file</a:t>
            </a:r>
          </a:p>
        </p:txBody>
      </p:sp>
    </p:spTree>
    <p:extLst>
      <p:ext uri="{BB962C8B-B14F-4D97-AF65-F5344CB8AC3E}">
        <p14:creationId xmlns:p14="http://schemas.microsoft.com/office/powerpoint/2010/main" val="1995948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F4AD5-2E0C-3AA7-A64C-65A770905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19AAC-AAE3-206F-D8BC-280C42317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Simulator should account for arrival times being out-of-order</a:t>
            </a:r>
          </a:p>
          <a:p>
            <a:r>
              <a:rPr lang="en-US" dirty="0"/>
              <a:t>Simulator should not allow:</a:t>
            </a:r>
          </a:p>
          <a:p>
            <a:pPr lvl="1"/>
            <a:r>
              <a:rPr lang="en-US" dirty="0"/>
              <a:t>Zero or negative processes</a:t>
            </a:r>
          </a:p>
          <a:p>
            <a:pPr lvl="1"/>
            <a:r>
              <a:rPr lang="en-US" dirty="0"/>
              <a:t>Negative arrival time</a:t>
            </a:r>
          </a:p>
          <a:p>
            <a:pPr lvl="1"/>
            <a:r>
              <a:rPr lang="en-US" dirty="0"/>
              <a:t>Zero or negative CPU burst</a:t>
            </a:r>
          </a:p>
          <a:p>
            <a:pPr lvl="1"/>
            <a:r>
              <a:rPr lang="en-US" dirty="0"/>
              <a:t>Negative priority</a:t>
            </a:r>
          </a:p>
          <a:p>
            <a:r>
              <a:rPr lang="en-US" dirty="0"/>
              <a:t>User should be able to simulate multiple algorithms on the same set of processes without having to input process info each time</a:t>
            </a:r>
          </a:p>
          <a:p>
            <a:r>
              <a:rPr lang="en-US" dirty="0"/>
              <a:t>User should be warned when they are about to overwrite an input or </a:t>
            </a:r>
            <a:r>
              <a:rPr lang="en-US"/>
              <a:t>output text file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913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D824D-C33F-6B6A-16A5-B82061179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Input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1F4D6-EDA5-1668-3451-AFAC10180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user can individually input the information for each process, or they can provide the name of a text file with process information</a:t>
            </a:r>
          </a:p>
          <a:p>
            <a:r>
              <a:rPr lang="en-US" dirty="0"/>
              <a:t>Input File Format:</a:t>
            </a:r>
          </a:p>
          <a:p>
            <a:pPr lvl="1"/>
            <a:r>
              <a:rPr lang="en-US" dirty="0"/>
              <a:t>First line contains number of processes</a:t>
            </a:r>
          </a:p>
          <a:p>
            <a:pPr lvl="1"/>
            <a:r>
              <a:rPr lang="en-US" dirty="0"/>
              <a:t>Each line after defines a process and contains its arrival time, CPU burst, and priority</a:t>
            </a:r>
          </a:p>
        </p:txBody>
      </p:sp>
    </p:spTree>
    <p:extLst>
      <p:ext uri="{BB962C8B-B14F-4D97-AF65-F5344CB8AC3E}">
        <p14:creationId xmlns:p14="http://schemas.microsoft.com/office/powerpoint/2010/main" val="3216987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18F81-131E-D2FC-3278-4456A199F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Set for Example Simulation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7AFC606-B182-1DDC-9802-E08AA2816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991960"/>
              </p:ext>
            </p:extLst>
          </p:nvPr>
        </p:nvGraphicFramePr>
        <p:xfrm>
          <a:off x="838200" y="1440428"/>
          <a:ext cx="6800028" cy="5166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0007">
                  <a:extLst>
                    <a:ext uri="{9D8B030D-6E8A-4147-A177-3AD203B41FA5}">
                      <a16:colId xmlns:a16="http://schemas.microsoft.com/office/drawing/2014/main" val="1560581063"/>
                    </a:ext>
                  </a:extLst>
                </a:gridCol>
                <a:gridCol w="1700007">
                  <a:extLst>
                    <a:ext uri="{9D8B030D-6E8A-4147-A177-3AD203B41FA5}">
                      <a16:colId xmlns:a16="http://schemas.microsoft.com/office/drawing/2014/main" val="2838436498"/>
                    </a:ext>
                  </a:extLst>
                </a:gridCol>
                <a:gridCol w="1700007">
                  <a:extLst>
                    <a:ext uri="{9D8B030D-6E8A-4147-A177-3AD203B41FA5}">
                      <a16:colId xmlns:a16="http://schemas.microsoft.com/office/drawing/2014/main" val="56440536"/>
                    </a:ext>
                  </a:extLst>
                </a:gridCol>
                <a:gridCol w="1700007">
                  <a:extLst>
                    <a:ext uri="{9D8B030D-6E8A-4147-A177-3AD203B41FA5}">
                      <a16:colId xmlns:a16="http://schemas.microsoft.com/office/drawing/2014/main" val="2384318815"/>
                    </a:ext>
                  </a:extLst>
                </a:gridCol>
              </a:tblGrid>
              <a:tr h="34863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Process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Arrival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CPU Burst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981026"/>
                  </a:ext>
                </a:extLst>
              </a:tr>
              <a:tr h="3195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183449"/>
                  </a:ext>
                </a:extLst>
              </a:tr>
              <a:tr h="3195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644568"/>
                  </a:ext>
                </a:extLst>
              </a:tr>
              <a:tr h="3195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895066"/>
                  </a:ext>
                </a:extLst>
              </a:tr>
              <a:tr h="3195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612674"/>
                  </a:ext>
                </a:extLst>
              </a:tr>
              <a:tr h="3195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P5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102932"/>
                  </a:ext>
                </a:extLst>
              </a:tr>
              <a:tr h="3195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P6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011665"/>
                  </a:ext>
                </a:extLst>
              </a:tr>
              <a:tr h="3195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P7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291613"/>
                  </a:ext>
                </a:extLst>
              </a:tr>
              <a:tr h="3195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P8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395119"/>
                  </a:ext>
                </a:extLst>
              </a:tr>
              <a:tr h="3195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P9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582450"/>
                  </a:ext>
                </a:extLst>
              </a:tr>
              <a:tr h="3195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P10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146482"/>
                  </a:ext>
                </a:extLst>
              </a:tr>
              <a:tr h="3195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P11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807524"/>
                  </a:ext>
                </a:extLst>
              </a:tr>
              <a:tr h="3195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P12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881731"/>
                  </a:ext>
                </a:extLst>
              </a:tr>
              <a:tr h="3195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P13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130209"/>
                  </a:ext>
                </a:extLst>
              </a:tr>
              <a:tr h="3195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P14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476102"/>
                  </a:ext>
                </a:extLst>
              </a:tr>
              <a:tr h="3195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P15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384834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7C45DDC9-C3AA-D378-E5DD-489BCB0A6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6863" y="1440428"/>
            <a:ext cx="2086937" cy="51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594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DBCBA-17FE-C8A6-FC78-AFEFCA4E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CD009-15B6-E9FC-9FD4-6CFE89B94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Wait Time: The amount of time a process spends resident in the ready queue, but not executing</a:t>
            </a:r>
          </a:p>
          <a:p>
            <a:r>
              <a:rPr lang="en-US" dirty="0"/>
              <a:t>Turnaround Time: The amount of time from when a ready process arrives in the queue to when it finishes executing</a:t>
            </a:r>
          </a:p>
          <a:p>
            <a:r>
              <a:rPr lang="en-US" dirty="0"/>
              <a:t>Normalized Turnaround Time: The ratio of a process’s turnaround time to service time (time spent executing)</a:t>
            </a:r>
          </a:p>
          <a:p>
            <a:r>
              <a:rPr lang="en-US" dirty="0"/>
              <a:t>Response Time: The amount of time from when a ready process arrives in the queue for the first time to when it starts executing</a:t>
            </a:r>
          </a:p>
        </p:txBody>
      </p:sp>
    </p:spTree>
    <p:extLst>
      <p:ext uri="{BB962C8B-B14F-4D97-AF65-F5344CB8AC3E}">
        <p14:creationId xmlns:p14="http://schemas.microsoft.com/office/powerpoint/2010/main" val="176902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97C99-B728-A9BC-D910-66E6B75B9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First-Come-First-Served (FCFS)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6217B-4EB9-A420-DECD-2AB4F6182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ready, processes join the back of a first-in-first-out ready queue</a:t>
            </a:r>
          </a:p>
          <a:p>
            <a:r>
              <a:rPr lang="en-US" dirty="0"/>
              <a:t>When one process finishes executing, the process that has been in the queue the longest is selected for execution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11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1DDD8-BB97-5B5A-8720-77F851F39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FCFS Analytics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AC6E93-5812-004C-7D64-8A80A515427D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2747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E72EA2-D062-F677-96C7-DA30597505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482"/>
          <a:stretch>
            <a:fillRect/>
          </a:stretch>
        </p:blipFill>
        <p:spPr>
          <a:xfrm>
            <a:off x="838200" y="1443592"/>
            <a:ext cx="10515600" cy="1789220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B54EC07D-7AAB-126E-215D-8A14B6C1DA3E}"/>
              </a:ext>
            </a:extLst>
          </p:cNvPr>
          <p:cNvSpPr txBox="1">
            <a:spLocks/>
          </p:cNvSpPr>
          <p:nvPr/>
        </p:nvSpPr>
        <p:spPr>
          <a:xfrm>
            <a:off x="839788" y="3428997"/>
            <a:ext cx="5157787" cy="276066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Pros</a:t>
            </a:r>
          </a:p>
          <a:p>
            <a:r>
              <a:rPr lang="en-US" sz="2000" dirty="0"/>
              <a:t>Eliminates starvation</a:t>
            </a:r>
          </a:p>
          <a:p>
            <a:r>
              <a:rPr lang="en-US" sz="2000" dirty="0"/>
              <a:t>Minimal overhead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AB4681D1-7EEA-B5F2-6158-D4FB4D541366}"/>
              </a:ext>
            </a:extLst>
          </p:cNvPr>
          <p:cNvSpPr txBox="1">
            <a:spLocks/>
          </p:cNvSpPr>
          <p:nvPr/>
        </p:nvSpPr>
        <p:spPr>
          <a:xfrm>
            <a:off x="6096000" y="3428996"/>
            <a:ext cx="5157787" cy="276066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Cons</a:t>
            </a:r>
          </a:p>
          <a:p>
            <a:r>
              <a:rPr lang="en-US" sz="2000" dirty="0"/>
              <a:t>Shorter processes are treated unfairly if variance in execution time is high</a:t>
            </a:r>
          </a:p>
          <a:p>
            <a:r>
              <a:rPr lang="en-US" sz="2000" dirty="0"/>
              <a:t>Unfair treatment of I/O-bound processes</a:t>
            </a:r>
          </a:p>
        </p:txBody>
      </p:sp>
    </p:spTree>
    <p:extLst>
      <p:ext uri="{BB962C8B-B14F-4D97-AF65-F5344CB8AC3E}">
        <p14:creationId xmlns:p14="http://schemas.microsoft.com/office/powerpoint/2010/main" val="27582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2F3FF-92CD-0D27-DEA9-8FFE9531E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FFD74-AA8E-0675-C2F9-B1AD19E33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Shortest Process Next (SPN)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16EC8-8787-A42E-1807-CCB839C8C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ready, processes join the back of a ready queue</a:t>
            </a:r>
          </a:p>
          <a:p>
            <a:r>
              <a:rPr lang="en-US" dirty="0"/>
              <a:t>When one process finishes executing, select the ready process with the shortest CPU burst</a:t>
            </a:r>
          </a:p>
          <a:p>
            <a:r>
              <a:rPr lang="en-US" dirty="0"/>
              <a:t>Processes with the same burst are run on a FCFS basis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412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88E55-7BB4-6808-251D-FF8CC3B2E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Within Simulation - SPN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F5F83-4E7C-9D16-FC45-0B9A77974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Simulation places processes in queue in order of shortest remaining time, so the process at the front of the queue is the shortest process</a:t>
            </a:r>
          </a:p>
          <a:p>
            <a:r>
              <a:rPr lang="en-US" dirty="0"/>
              <a:t>An actual SPN implementation places the new process at the back of the queue, and when a process finishes executing, it selects the shortest process in the queue</a:t>
            </a:r>
          </a:p>
        </p:txBody>
      </p:sp>
    </p:spTree>
    <p:extLst>
      <p:ext uri="{BB962C8B-B14F-4D97-AF65-F5344CB8AC3E}">
        <p14:creationId xmlns:p14="http://schemas.microsoft.com/office/powerpoint/2010/main" val="866010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0CD30-3564-9EDB-0D87-B92168854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FDE21-CE3A-B16C-3089-03A750BC7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SPN Analytics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C48ADF-57AC-3608-569F-A9562A2E4A5F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2747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A98BA2-EAE5-D787-01FD-C956B8B6A5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240" b="34097"/>
          <a:stretch>
            <a:fillRect/>
          </a:stretch>
        </p:blipFill>
        <p:spPr>
          <a:xfrm>
            <a:off x="838200" y="1439482"/>
            <a:ext cx="10515600" cy="179743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17E890-E3BF-475A-486B-20CC6EEE6532}"/>
              </a:ext>
            </a:extLst>
          </p:cNvPr>
          <p:cNvSpPr txBox="1">
            <a:spLocks/>
          </p:cNvSpPr>
          <p:nvPr/>
        </p:nvSpPr>
        <p:spPr>
          <a:xfrm>
            <a:off x="839788" y="3428997"/>
            <a:ext cx="5157787" cy="276066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Pros</a:t>
            </a:r>
          </a:p>
          <a:p>
            <a:r>
              <a:rPr lang="en-US" sz="2000" dirty="0"/>
              <a:t>High throughput</a:t>
            </a:r>
          </a:p>
          <a:p>
            <a:r>
              <a:rPr lang="en-US" sz="2000" dirty="0"/>
              <a:t>Minimal normalized turnaround time</a:t>
            </a:r>
          </a:p>
          <a:p>
            <a:r>
              <a:rPr lang="en-US" sz="2000" dirty="0"/>
              <a:t>Treats processor-bound and I/O-bound processes fairly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A221942F-9B17-C8C2-40BC-B9F09AAAFF37}"/>
              </a:ext>
            </a:extLst>
          </p:cNvPr>
          <p:cNvSpPr txBox="1">
            <a:spLocks/>
          </p:cNvSpPr>
          <p:nvPr/>
        </p:nvSpPr>
        <p:spPr>
          <a:xfrm>
            <a:off x="6096000" y="3428996"/>
            <a:ext cx="5157787" cy="276066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Cons</a:t>
            </a:r>
          </a:p>
          <a:p>
            <a:r>
              <a:rPr lang="en-US" sz="2000" dirty="0"/>
              <a:t>Starvation possible for longer processes</a:t>
            </a:r>
          </a:p>
          <a:p>
            <a:r>
              <a:rPr lang="en-US" sz="2000" dirty="0"/>
              <a:t>Must have a reasonable estimate of how long each process will take</a:t>
            </a:r>
          </a:p>
          <a:p>
            <a:r>
              <a:rPr lang="en-US" sz="2000" dirty="0"/>
              <a:t>High amount of overhead</a:t>
            </a:r>
          </a:p>
        </p:txBody>
      </p:sp>
    </p:spTree>
    <p:extLst>
      <p:ext uri="{BB962C8B-B14F-4D97-AF65-F5344CB8AC3E}">
        <p14:creationId xmlns:p14="http://schemas.microsoft.com/office/powerpoint/2010/main" val="2947291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57FA0-823B-7DDD-CE5A-38B38D89B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2EEFF-1B7E-1727-09E7-63D9BDC5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Shortest Remaining Time (SRT)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2A54A-FDA2-0DA6-1FE8-C356025C2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Preemptive version of SPN</a:t>
            </a:r>
          </a:p>
          <a:p>
            <a:r>
              <a:rPr lang="en-US" dirty="0"/>
              <a:t>The longer of the two processes (or the new process if both have an equal burst) then enters the back of the queue</a:t>
            </a:r>
          </a:p>
          <a:p>
            <a:r>
              <a:rPr lang="en-US" dirty="0"/>
              <a:t>When one process finishes executing, select the ready process with the shortest remaining burst</a:t>
            </a:r>
          </a:p>
          <a:p>
            <a:r>
              <a:rPr lang="en-US" dirty="0"/>
              <a:t>Processes with the same burst are run on a FCFS basis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535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2F03D-B9C9-4921-5E58-BDF67912A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BE51-D7A8-09DF-6571-F3BF9DCD3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Within Simulation - SRT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FDBEC-28EA-13F3-6A79-1AFFA41F5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Simulation places processes in queue in order of shortest remaining time, so the process at the front of the queue is the shortest process</a:t>
            </a:r>
          </a:p>
          <a:p>
            <a:r>
              <a:rPr lang="en-US" dirty="0"/>
              <a:t>An actual SRT implementation places the new or preempted process at the back of the queue, and when a process finishes executing, it selects the shortest process in the queue</a:t>
            </a:r>
          </a:p>
        </p:txBody>
      </p:sp>
    </p:spTree>
    <p:extLst>
      <p:ext uri="{BB962C8B-B14F-4D97-AF65-F5344CB8AC3E}">
        <p14:creationId xmlns:p14="http://schemas.microsoft.com/office/powerpoint/2010/main" val="1825311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71C8A-EF13-1D62-5F70-A955F1F62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CCF5B-5A79-71DD-C410-07FCD88F8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SRT Analytics + Pros &amp; Cons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7923758-D95D-8120-CF37-830DBF9032EB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2747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C8D755-1F2C-F893-9397-2E4E355F1F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482"/>
          <a:stretch>
            <a:fillRect/>
          </a:stretch>
        </p:blipFill>
        <p:spPr>
          <a:xfrm>
            <a:off x="838200" y="1439482"/>
            <a:ext cx="10515600" cy="1789221"/>
          </a:xfrm>
          <a:prstGeom prst="rect">
            <a:avLst/>
          </a:prstGeom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0870BC0-2C81-A525-78E8-67B3FD00C5C4}"/>
              </a:ext>
            </a:extLst>
          </p:cNvPr>
          <p:cNvSpPr txBox="1">
            <a:spLocks/>
          </p:cNvSpPr>
          <p:nvPr/>
        </p:nvSpPr>
        <p:spPr>
          <a:xfrm>
            <a:off x="839788" y="3428997"/>
            <a:ext cx="5157787" cy="276066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Pros</a:t>
            </a:r>
          </a:p>
          <a:p>
            <a:r>
              <a:rPr lang="en-US" sz="2000" dirty="0"/>
              <a:t>High throughput</a:t>
            </a:r>
          </a:p>
          <a:p>
            <a:r>
              <a:rPr lang="en-US" sz="2000" dirty="0"/>
              <a:t>Minimal normalized turnaround time</a:t>
            </a:r>
          </a:p>
          <a:p>
            <a:r>
              <a:rPr lang="en-US" sz="2000" dirty="0"/>
              <a:t>Treats processor-bound and I/O-bound processes fairly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DC1B0F2-774E-72B3-25A3-244FD70AB94D}"/>
              </a:ext>
            </a:extLst>
          </p:cNvPr>
          <p:cNvSpPr txBox="1">
            <a:spLocks/>
          </p:cNvSpPr>
          <p:nvPr/>
        </p:nvSpPr>
        <p:spPr>
          <a:xfrm>
            <a:off x="6096000" y="3428996"/>
            <a:ext cx="5157787" cy="276066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Cons</a:t>
            </a:r>
          </a:p>
          <a:p>
            <a:r>
              <a:rPr lang="en-US" sz="2000" dirty="0"/>
              <a:t>Starvation possible for longer processes</a:t>
            </a:r>
          </a:p>
          <a:p>
            <a:r>
              <a:rPr lang="en-US" sz="2000" dirty="0"/>
              <a:t>Must have a reasonable estimate of how long each process will take</a:t>
            </a:r>
          </a:p>
          <a:p>
            <a:r>
              <a:rPr lang="en-US" sz="2000" dirty="0"/>
              <a:t>Even greater overhead than SPN</a:t>
            </a:r>
          </a:p>
        </p:txBody>
      </p:sp>
    </p:spTree>
    <p:extLst>
      <p:ext uri="{BB962C8B-B14F-4D97-AF65-F5344CB8AC3E}">
        <p14:creationId xmlns:p14="http://schemas.microsoft.com/office/powerpoint/2010/main" val="3494157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51684-308F-2B7D-D45B-137A03C6E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2A111-2981-4CEB-9AC6-75DA28D0B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Round-Robin (RR)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B83B0-79D8-C25A-83CB-9F4811378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FCFS except that a process is preempted to the back of the ready queue after a certain amount of time if another process is waiting for execution</a:t>
            </a:r>
          </a:p>
          <a:p>
            <a:r>
              <a:rPr lang="en-US" dirty="0"/>
              <a:t>Quantum: The length of a time slice a process executes before it is preempted</a:t>
            </a:r>
          </a:p>
          <a:p>
            <a:r>
              <a:rPr lang="en-US" dirty="0"/>
              <a:t>If no processes are waiting after an executing process finishes its quantum, it executes for another full quantum before it can be preempted</a:t>
            </a:r>
          </a:p>
        </p:txBody>
      </p:sp>
    </p:spTree>
    <p:extLst>
      <p:ext uri="{BB962C8B-B14F-4D97-AF65-F5344CB8AC3E}">
        <p14:creationId xmlns:p14="http://schemas.microsoft.com/office/powerpoint/2010/main" val="1085319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1B5B8-979C-00D6-8750-081D5BB4A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9461B4-6996-9ED3-D8C3-777CBF0404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" t="806" r="1915" b="49940"/>
          <a:stretch>
            <a:fillRect/>
          </a:stretch>
        </p:blipFill>
        <p:spPr>
          <a:xfrm>
            <a:off x="838200" y="1439482"/>
            <a:ext cx="10515600" cy="19766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F136CF-8F8D-D74C-2069-36ECC96A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RR Analytics + Pros &amp; Cons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45E454C-CAD3-51F9-9896-D0E20C3A7A70}"/>
              </a:ext>
            </a:extLst>
          </p:cNvPr>
          <p:cNvSpPr txBox="1">
            <a:spLocks/>
          </p:cNvSpPr>
          <p:nvPr/>
        </p:nvSpPr>
        <p:spPr>
          <a:xfrm>
            <a:off x="839788" y="3629116"/>
            <a:ext cx="5157787" cy="256054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Pros</a:t>
            </a:r>
          </a:p>
          <a:p>
            <a:r>
              <a:rPr lang="en-US" sz="2000" dirty="0"/>
              <a:t>Great general-use algorithm</a:t>
            </a:r>
          </a:p>
          <a:p>
            <a:r>
              <a:rPr lang="en-US" sz="2000" dirty="0"/>
              <a:t>Low overhead, albeit greater than FCFS</a:t>
            </a:r>
          </a:p>
          <a:p>
            <a:endParaRPr lang="en-US" sz="2000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855DD37D-F3A3-13F8-BA3F-3E99DF5F5E04}"/>
              </a:ext>
            </a:extLst>
          </p:cNvPr>
          <p:cNvSpPr txBox="1">
            <a:spLocks/>
          </p:cNvSpPr>
          <p:nvPr/>
        </p:nvSpPr>
        <p:spPr>
          <a:xfrm>
            <a:off x="6096000" y="3629115"/>
            <a:ext cx="5157787" cy="256054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Cons</a:t>
            </a:r>
          </a:p>
          <a:p>
            <a:r>
              <a:rPr lang="en-US" sz="2000" dirty="0"/>
              <a:t>High normalized turnaround time for shorter processes if they have to wait a long time between quanta</a:t>
            </a:r>
          </a:p>
          <a:p>
            <a:r>
              <a:rPr lang="en-US" sz="2000" dirty="0"/>
              <a:t>Low throughput for shorter quanta</a:t>
            </a:r>
          </a:p>
          <a:p>
            <a:r>
              <a:rPr lang="en-US" sz="2000" dirty="0"/>
              <a:t>Favors processor-bound processes over I/O-bound</a:t>
            </a:r>
          </a:p>
        </p:txBody>
      </p:sp>
    </p:spTree>
    <p:extLst>
      <p:ext uri="{BB962C8B-B14F-4D97-AF65-F5344CB8AC3E}">
        <p14:creationId xmlns:p14="http://schemas.microsoft.com/office/powerpoint/2010/main" val="2533566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02333-3438-5240-F8C5-4B37CB2BF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79453-AA0F-8455-D3C1-3645347CC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(Non-Preemptive)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1F4CC-6520-9070-CBF3-B69F80EDD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ready, processes are placed in the queue corresponding to their priority</a:t>
            </a:r>
          </a:p>
          <a:p>
            <a:r>
              <a:rPr lang="en-US" dirty="0"/>
              <a:t>Lower number = higher priority</a:t>
            </a:r>
          </a:p>
          <a:p>
            <a:r>
              <a:rPr lang="en-US" dirty="0"/>
              <a:t>When a process finishes executing, select a process from the highest-priority queue with at least one resident process</a:t>
            </a:r>
          </a:p>
          <a:p>
            <a:r>
              <a:rPr lang="en-US" dirty="0"/>
              <a:t>Use of priority can be combined with other algorithms to determine which process in highest-priority queue to select</a:t>
            </a:r>
          </a:p>
          <a:p>
            <a:r>
              <a:rPr lang="en-US" dirty="0"/>
              <a:t>For this simulation, processes of the same priority are executed on a FCFS basis</a:t>
            </a:r>
          </a:p>
        </p:txBody>
      </p:sp>
    </p:spTree>
    <p:extLst>
      <p:ext uri="{BB962C8B-B14F-4D97-AF65-F5344CB8AC3E}">
        <p14:creationId xmlns:p14="http://schemas.microsoft.com/office/powerpoint/2010/main" val="1719306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6E0EC-C8EA-EFF9-958E-7AC121B9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D6FD1-C848-96D2-73C8-E43ACB32B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Within Simulation - Priority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773D9-5523-FAEC-85D3-5064AEB43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Simulation places processes in queue in order of priority, so the process at the front of the queue has the highest priority</a:t>
            </a:r>
          </a:p>
          <a:p>
            <a:r>
              <a:rPr lang="en-US" dirty="0"/>
              <a:t>An actual priority implementation places processes in the queue correspondent to its priority</a:t>
            </a:r>
          </a:p>
        </p:txBody>
      </p:sp>
    </p:spTree>
    <p:extLst>
      <p:ext uri="{BB962C8B-B14F-4D97-AF65-F5344CB8AC3E}">
        <p14:creationId xmlns:p14="http://schemas.microsoft.com/office/powerpoint/2010/main" val="4029373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3A82-AA17-4225-12E5-1BE239FDB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(Non-Preemptive) Analytics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3EE45F-ABFE-6DA8-BB0C-4EC4E11743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" t="53684" r="1915" b="1734"/>
          <a:stretch>
            <a:fillRect/>
          </a:stretch>
        </p:blipFill>
        <p:spPr>
          <a:xfrm>
            <a:off x="838200" y="1443590"/>
            <a:ext cx="10515600" cy="178922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D0FB64-FFDF-1B95-15E4-26446439B52F}"/>
              </a:ext>
            </a:extLst>
          </p:cNvPr>
          <p:cNvSpPr txBox="1">
            <a:spLocks/>
          </p:cNvSpPr>
          <p:nvPr/>
        </p:nvSpPr>
        <p:spPr>
          <a:xfrm>
            <a:off x="839788" y="3428997"/>
            <a:ext cx="5157787" cy="276066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Pros</a:t>
            </a:r>
          </a:p>
          <a:p>
            <a:r>
              <a:rPr lang="en-US" sz="2000" dirty="0"/>
              <a:t>Time-sensitive tasks can be given higher priority</a:t>
            </a:r>
          </a:p>
          <a:p>
            <a:r>
              <a:rPr lang="en-US" sz="2000" dirty="0"/>
              <a:t>Can use different algorithms in combination with priority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95E17646-20BB-0F77-DA85-4F09BE0E9658}"/>
              </a:ext>
            </a:extLst>
          </p:cNvPr>
          <p:cNvSpPr txBox="1">
            <a:spLocks/>
          </p:cNvSpPr>
          <p:nvPr/>
        </p:nvSpPr>
        <p:spPr>
          <a:xfrm>
            <a:off x="6096000" y="3428996"/>
            <a:ext cx="5157787" cy="276066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Cons</a:t>
            </a:r>
          </a:p>
          <a:p>
            <a:r>
              <a:rPr lang="en-US" sz="2000" dirty="0"/>
              <a:t>Starvation possible</a:t>
            </a:r>
          </a:p>
        </p:txBody>
      </p:sp>
    </p:spTree>
    <p:extLst>
      <p:ext uri="{BB962C8B-B14F-4D97-AF65-F5344CB8AC3E}">
        <p14:creationId xmlns:p14="http://schemas.microsoft.com/office/powerpoint/2010/main" val="962908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9752C-83BF-C967-E4BD-3CB57CDC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and Worst Performers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AE51AD-0B68-0FA6-05EA-8025ACDA3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Best Performers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5AB15C-AD46-6426-3EA3-CC958C70EC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Average Waiting Time: SRT</a:t>
            </a:r>
          </a:p>
          <a:p>
            <a:r>
              <a:rPr lang="en-US" sz="2400" dirty="0"/>
              <a:t>Average Turnaround Time: SRT</a:t>
            </a:r>
          </a:p>
          <a:p>
            <a:r>
              <a:rPr lang="en-US" sz="2400" dirty="0"/>
              <a:t>Average Normalized Turnaround Time: SRT</a:t>
            </a:r>
          </a:p>
          <a:p>
            <a:r>
              <a:rPr lang="en-US" sz="2400" dirty="0"/>
              <a:t>Average Response Time: SRT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2B209C-E525-6B39-0727-E42320DAF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Worst Performers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89BC1F4-4FF7-3663-4A82-8FEEAD434BA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Average Waiting Time: RR</a:t>
            </a:r>
          </a:p>
          <a:p>
            <a:r>
              <a:rPr lang="en-US" sz="2400" dirty="0"/>
              <a:t>Average Turnaround Time: RR</a:t>
            </a:r>
          </a:p>
          <a:p>
            <a:r>
              <a:rPr lang="en-US" sz="2400" dirty="0"/>
              <a:t>Average Normalized Turnaround Time: Priority</a:t>
            </a:r>
          </a:p>
          <a:p>
            <a:r>
              <a:rPr lang="en-US" sz="2400" dirty="0"/>
              <a:t>Average Response Time: Priority</a:t>
            </a:r>
          </a:p>
        </p:txBody>
      </p:sp>
    </p:spTree>
    <p:extLst>
      <p:ext uri="{BB962C8B-B14F-4D97-AF65-F5344CB8AC3E}">
        <p14:creationId xmlns:p14="http://schemas.microsoft.com/office/powerpoint/2010/main" val="2868297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1800</TotalTime>
  <Words>1089</Words>
  <Application>Microsoft Office PowerPoint</Application>
  <PresentationFormat>Widescreen</PresentationFormat>
  <Paragraphs>179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CPU Scheduling Algorithm Simulator</vt:lpstr>
      <vt:lpstr>Project Overview</vt:lpstr>
      <vt:lpstr>Optional Features</vt:lpstr>
      <vt:lpstr>Design Considerations</vt:lpstr>
      <vt:lpstr>Process Input Feature</vt:lpstr>
      <vt:lpstr>Process Set for Example Simulation</vt:lpstr>
      <vt:lpstr>Performance Metrics</vt:lpstr>
      <vt:lpstr>First-Come-First-Served (FCFS) Algorithm</vt:lpstr>
      <vt:lpstr>FCFS Analytics</vt:lpstr>
      <vt:lpstr>Shortest Process Next (SPN) Algorithm</vt:lpstr>
      <vt:lpstr>Differences Within Simulation - SPN</vt:lpstr>
      <vt:lpstr>SPN Analytics</vt:lpstr>
      <vt:lpstr>Shortest Remaining Time (SRT) Algorithm</vt:lpstr>
      <vt:lpstr>Differences Within Simulation - SRT</vt:lpstr>
      <vt:lpstr>SRT Analytics + Pros &amp; Cons</vt:lpstr>
      <vt:lpstr>Round-Robin (RR) Algorithm</vt:lpstr>
      <vt:lpstr>RR Analytics + Pros &amp; Cons</vt:lpstr>
      <vt:lpstr>Priority (Non-Preemptive) Algorithm</vt:lpstr>
      <vt:lpstr>Differences Within Simulation - Priority</vt:lpstr>
      <vt:lpstr>Priority (Non-Preemptive) Analytics</vt:lpstr>
      <vt:lpstr>Best and Worst Performers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Kristen Farkos</dc:creator>
  <cp:lastModifiedBy>Kristen Farkos</cp:lastModifiedBy>
  <cp:revision>2</cp:revision>
  <dcterms:created xsi:type="dcterms:W3CDTF">2025-07-30T14:16:02Z</dcterms:created>
  <dcterms:modified xsi:type="dcterms:W3CDTF">2025-07-31T20:16:39Z</dcterms:modified>
</cp:coreProperties>
</file>